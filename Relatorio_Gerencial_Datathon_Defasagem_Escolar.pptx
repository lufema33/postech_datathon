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LuFeMa33/PosTech_Datathon/blob/main/Datathon.ipynb" TargetMode="External"/><Relationship Id="rId2" Type="http://schemas.openxmlformats.org/officeDocument/2006/relationships/hyperlink" Target="https://github.com/LuFeMa33/PosTech_Datathon" TargetMode="External"/><Relationship Id="rId1" Type="http://schemas.openxmlformats.org/officeDocument/2006/relationships/slideLayout" Target="../slideLayouts/slideLayout7.xml"/><Relationship Id="rId4" Type="http://schemas.openxmlformats.org/officeDocument/2006/relationships/hyperlink" Target="https://defasagem-escolar.streamlit.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463040"/>
            <a:ext cx="7483011" cy="4862870"/>
          </a:xfrm>
          <a:prstGeom prst="rect">
            <a:avLst/>
          </a:prstGeom>
          <a:noFill/>
        </p:spPr>
        <p:txBody>
          <a:bodyPr wrap="none">
            <a:spAutoFit/>
          </a:bodyPr>
          <a:lstStyle/>
          <a:p>
            <a:pPr>
              <a:defRPr sz="3100" b="1">
                <a:solidFill>
                  <a:srgbClr val="FFFFFF"/>
                </a:solidFill>
              </a:defRPr>
            </a:pPr>
            <a:r>
              <a:rPr dirty="0"/>
              <a:t>RELATÓRIO GERENCIAL</a:t>
            </a:r>
          </a:p>
          <a:p>
            <a:pPr>
              <a:defRPr sz="2700" b="1">
                <a:solidFill>
                  <a:srgbClr val="FFFFFF"/>
                </a:solidFill>
              </a:defRPr>
            </a:pPr>
            <a:r>
              <a:rPr dirty="0" err="1"/>
              <a:t>Datathon</a:t>
            </a:r>
            <a:r>
              <a:rPr dirty="0"/>
              <a:t> — </a:t>
            </a:r>
            <a:r>
              <a:rPr dirty="0" err="1"/>
              <a:t>Análise</a:t>
            </a:r>
            <a:r>
              <a:rPr dirty="0"/>
              <a:t> de </a:t>
            </a:r>
            <a:r>
              <a:rPr dirty="0" err="1"/>
              <a:t>Defasagem</a:t>
            </a:r>
            <a:r>
              <a:rPr dirty="0"/>
              <a:t> Escolar</a:t>
            </a:r>
          </a:p>
          <a:p>
            <a:pPr>
              <a:defRPr sz="1800">
                <a:solidFill>
                  <a:srgbClr val="D2DCE6"/>
                </a:solidFill>
              </a:defRPr>
            </a:pPr>
            <a:r>
              <a:rPr dirty="0"/>
              <a:t>Passos </a:t>
            </a:r>
            <a:r>
              <a:rPr dirty="0" err="1"/>
              <a:t>Mágicos</a:t>
            </a:r>
            <a:r>
              <a:rPr dirty="0"/>
              <a:t> | </a:t>
            </a:r>
            <a:r>
              <a:rPr dirty="0" err="1"/>
              <a:t>Projeto</a:t>
            </a:r>
            <a:r>
              <a:rPr dirty="0"/>
              <a:t> de Data Analytics</a:t>
            </a:r>
            <a:endParaRPr lang="pt-BR" dirty="0"/>
          </a:p>
          <a:p>
            <a:pPr>
              <a:defRPr sz="1800">
                <a:solidFill>
                  <a:srgbClr val="D2DCE6"/>
                </a:solidFill>
              </a:defRPr>
            </a:pPr>
            <a:endParaRPr lang="pt-BR" dirty="0"/>
          </a:p>
          <a:p>
            <a:pPr>
              <a:defRPr sz="1800">
                <a:solidFill>
                  <a:srgbClr val="D2DCE6"/>
                </a:solidFill>
              </a:defRPr>
            </a:pPr>
            <a:r>
              <a:rPr lang="pt-BR" dirty="0"/>
              <a:t>Aluno: Luiz Felipe Marinho</a:t>
            </a:r>
          </a:p>
          <a:p>
            <a:pPr>
              <a:defRPr sz="1800">
                <a:solidFill>
                  <a:srgbClr val="D2DCE6"/>
                </a:solidFill>
              </a:defRPr>
            </a:pPr>
            <a:r>
              <a:rPr lang="pt-BR" dirty="0"/>
              <a:t>RA: rm369704</a:t>
            </a:r>
          </a:p>
          <a:p>
            <a:pPr>
              <a:defRPr sz="1800">
                <a:solidFill>
                  <a:srgbClr val="D2DCE6"/>
                </a:solidFill>
              </a:defRPr>
            </a:pPr>
            <a:endParaRPr lang="pt-BR" dirty="0"/>
          </a:p>
          <a:p>
            <a:pPr>
              <a:defRPr sz="1800">
                <a:solidFill>
                  <a:srgbClr val="D2DCE6"/>
                </a:solidFill>
              </a:defRPr>
            </a:pPr>
            <a:r>
              <a:rPr lang="pt-BR" dirty="0"/>
              <a:t>Link do Github:</a:t>
            </a:r>
          </a:p>
          <a:p>
            <a:pPr>
              <a:defRPr sz="1800">
                <a:solidFill>
                  <a:srgbClr val="D2DCE6"/>
                </a:solidFill>
              </a:defRPr>
            </a:pPr>
            <a:r>
              <a:rPr lang="pt-BR" dirty="0">
                <a:hlinkClick r:id="rId2"/>
              </a:rPr>
              <a:t>https://github.com/LuFeMa33/PosTech_Datathon</a:t>
            </a:r>
            <a:endParaRPr lang="pt-BR" dirty="0"/>
          </a:p>
          <a:p>
            <a:pPr>
              <a:defRPr sz="1800">
                <a:solidFill>
                  <a:srgbClr val="D2DCE6"/>
                </a:solidFill>
              </a:defRPr>
            </a:pPr>
            <a:endParaRPr lang="pt-BR" dirty="0"/>
          </a:p>
          <a:p>
            <a:pPr>
              <a:defRPr sz="1800">
                <a:solidFill>
                  <a:srgbClr val="D2DCE6"/>
                </a:solidFill>
              </a:defRPr>
            </a:pPr>
            <a:r>
              <a:rPr lang="pt-BR" dirty="0"/>
              <a:t>Link do notebook desenvolvido:</a:t>
            </a:r>
          </a:p>
          <a:p>
            <a:pPr>
              <a:defRPr sz="1800">
                <a:solidFill>
                  <a:srgbClr val="D2DCE6"/>
                </a:solidFill>
              </a:defRPr>
            </a:pPr>
            <a:r>
              <a:rPr lang="pt-BR" dirty="0">
                <a:hlinkClick r:id="rId3"/>
              </a:rPr>
              <a:t>https://github.com/LuFeMa33/PosTech_Datathon/blob/main/Datathon.ipynb</a:t>
            </a:r>
            <a:endParaRPr lang="pt-BR" dirty="0"/>
          </a:p>
          <a:p>
            <a:pPr>
              <a:defRPr sz="1800">
                <a:solidFill>
                  <a:srgbClr val="D2DCE6"/>
                </a:solidFill>
              </a:defRPr>
            </a:pPr>
            <a:endParaRPr lang="pt-BR" dirty="0"/>
          </a:p>
          <a:p>
            <a:pPr>
              <a:defRPr sz="1800">
                <a:solidFill>
                  <a:srgbClr val="D2DCE6"/>
                </a:solidFill>
              </a:defRPr>
            </a:pPr>
            <a:r>
              <a:rPr lang="pt-BR" dirty="0"/>
              <a:t>Link do </a:t>
            </a:r>
            <a:r>
              <a:rPr lang="pt-BR" dirty="0" err="1"/>
              <a:t>deploy</a:t>
            </a:r>
            <a:r>
              <a:rPr lang="pt-BR" dirty="0"/>
              <a:t> da aplicação no </a:t>
            </a:r>
            <a:r>
              <a:rPr lang="pt-BR" dirty="0" err="1"/>
              <a:t>Streamlit</a:t>
            </a:r>
            <a:r>
              <a:rPr lang="pt-BR" dirty="0"/>
              <a:t> Cloud:</a:t>
            </a:r>
          </a:p>
          <a:p>
            <a:pPr>
              <a:defRPr sz="1800">
                <a:solidFill>
                  <a:srgbClr val="D2DCE6"/>
                </a:solidFill>
              </a:defRPr>
            </a:pPr>
            <a:r>
              <a:rPr lang="pt-BR" dirty="0">
                <a:hlinkClick r:id="rId4"/>
              </a:rPr>
              <a:t>https://defasagem-escolar.streamlit.app/</a:t>
            </a:r>
            <a:endParaRPr lang="pt-BR" dirty="0"/>
          </a:p>
          <a:p>
            <a:pPr>
              <a:defRPr sz="1800">
                <a:solidFill>
                  <a:srgbClr val="D2DCE6"/>
                </a:solidFill>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500" b="1">
                <a:solidFill>
                  <a:srgbClr val="FFFFFF"/>
                </a:solidFill>
              </a:rPr>
              <a:t>Contexto dos dados</a:t>
            </a:r>
          </a:p>
        </p:txBody>
      </p:sp>
      <p:sp>
        <p:nvSpPr>
          <p:cNvPr id="4" name="TextBox 3"/>
          <p:cNvSpPr txBox="1"/>
          <p:nvPr/>
        </p:nvSpPr>
        <p:spPr>
          <a:xfrm>
            <a:off x="731520" y="1325880"/>
            <a:ext cx="10698480" cy="1600438"/>
          </a:xfrm>
          <a:prstGeom prst="rect">
            <a:avLst/>
          </a:prstGeom>
          <a:noFill/>
        </p:spPr>
        <p:txBody>
          <a:bodyPr wrap="square">
            <a:spAutoFit/>
          </a:bodyPr>
          <a:lstStyle/>
          <a:p>
            <a:pPr>
              <a:spcAft>
                <a:spcPts val="1200"/>
              </a:spcAft>
              <a:defRPr sz="1700">
                <a:solidFill>
                  <a:srgbClr val="2D2D2D"/>
                </a:solidFill>
              </a:defRPr>
            </a:pPr>
            <a:r>
              <a:rPr dirty="0"/>
              <a:t>Base </a:t>
            </a:r>
            <a:r>
              <a:rPr dirty="0" err="1"/>
              <a:t>analisada</a:t>
            </a:r>
            <a:r>
              <a:rPr dirty="0"/>
              <a:t>: 3.030 </a:t>
            </a:r>
            <a:r>
              <a:rPr dirty="0" err="1"/>
              <a:t>registros</a:t>
            </a:r>
            <a:r>
              <a:rPr dirty="0"/>
              <a:t> </a:t>
            </a:r>
            <a:r>
              <a:rPr dirty="0" err="1"/>
              <a:t>após</a:t>
            </a:r>
            <a:r>
              <a:rPr dirty="0"/>
              <a:t> </a:t>
            </a:r>
            <a:r>
              <a:rPr dirty="0" err="1"/>
              <a:t>tratamento</a:t>
            </a:r>
            <a:r>
              <a:rPr dirty="0"/>
              <a:t> dos dados.</a:t>
            </a:r>
          </a:p>
          <a:p>
            <a:pPr>
              <a:spcAft>
                <a:spcPts val="1200"/>
              </a:spcAft>
              <a:defRPr sz="1700">
                <a:solidFill>
                  <a:srgbClr val="2D2D2D"/>
                </a:solidFill>
              </a:defRPr>
            </a:pPr>
            <a:r>
              <a:rPr dirty="0" err="1"/>
              <a:t>Indicadores</a:t>
            </a:r>
            <a:r>
              <a:rPr dirty="0"/>
              <a:t> </a:t>
            </a:r>
            <a:r>
              <a:rPr dirty="0" err="1"/>
              <a:t>centrais</a:t>
            </a:r>
            <a:r>
              <a:rPr dirty="0"/>
              <a:t>: IAN, IDA, IEG, IAA, IPS, IPV e INDE.</a:t>
            </a:r>
          </a:p>
          <a:p>
            <a:pPr>
              <a:spcAft>
                <a:spcPts val="1200"/>
              </a:spcAft>
              <a:defRPr sz="1700">
                <a:solidFill>
                  <a:srgbClr val="2D2D2D"/>
                </a:solidFill>
              </a:defRPr>
            </a:pPr>
            <a:r>
              <a:rPr dirty="0" err="1"/>
              <a:t>Variáveis</a:t>
            </a:r>
            <a:r>
              <a:rPr dirty="0"/>
              <a:t> </a:t>
            </a:r>
            <a:r>
              <a:rPr dirty="0" err="1"/>
              <a:t>acadêmicas</a:t>
            </a:r>
            <a:r>
              <a:rPr dirty="0"/>
              <a:t>: </a:t>
            </a:r>
            <a:r>
              <a:rPr dirty="0" err="1"/>
              <a:t>Matemática</a:t>
            </a:r>
            <a:r>
              <a:rPr dirty="0"/>
              <a:t>, </a:t>
            </a:r>
            <a:r>
              <a:rPr dirty="0" err="1"/>
              <a:t>Português</a:t>
            </a:r>
            <a:r>
              <a:rPr dirty="0"/>
              <a:t> e </a:t>
            </a:r>
            <a:r>
              <a:rPr dirty="0" err="1"/>
              <a:t>Inglês</a:t>
            </a:r>
            <a:r>
              <a:rPr dirty="0"/>
              <a:t>.</a:t>
            </a:r>
          </a:p>
          <a:p>
            <a:pPr>
              <a:spcAft>
                <a:spcPts val="1200"/>
              </a:spcAft>
              <a:defRPr sz="1700">
                <a:solidFill>
                  <a:srgbClr val="2D2D2D"/>
                </a:solidFill>
              </a:defRPr>
            </a:pPr>
            <a:r>
              <a:rPr dirty="0" err="1"/>
              <a:t>Variáveis</a:t>
            </a:r>
            <a:r>
              <a:rPr dirty="0"/>
              <a:t> de </a:t>
            </a:r>
            <a:r>
              <a:rPr dirty="0" err="1"/>
              <a:t>contexto</a:t>
            </a:r>
            <a:r>
              <a:rPr dirty="0"/>
              <a:t>: </a:t>
            </a:r>
            <a:r>
              <a:rPr dirty="0" err="1"/>
              <a:t>idade</a:t>
            </a:r>
            <a:r>
              <a:rPr dirty="0"/>
              <a:t>, </a:t>
            </a:r>
            <a:r>
              <a:rPr dirty="0" err="1"/>
              <a:t>gênero</a:t>
            </a:r>
            <a:r>
              <a:rPr dirty="0"/>
              <a:t>, </a:t>
            </a:r>
            <a:r>
              <a:rPr dirty="0" err="1"/>
              <a:t>ano</a:t>
            </a:r>
            <a:r>
              <a:rPr dirty="0"/>
              <a:t> de </a:t>
            </a:r>
            <a:r>
              <a:rPr dirty="0" err="1"/>
              <a:t>nascimento</a:t>
            </a:r>
            <a:r>
              <a:rPr dirty="0"/>
              <a:t>, </a:t>
            </a:r>
            <a:r>
              <a:rPr dirty="0" err="1"/>
              <a:t>ano</a:t>
            </a:r>
            <a:r>
              <a:rPr dirty="0"/>
              <a:t> de </a:t>
            </a:r>
            <a:r>
              <a:rPr dirty="0" err="1"/>
              <a:t>ingresso</a:t>
            </a:r>
            <a:r>
              <a:rPr dirty="0"/>
              <a:t> e </a:t>
            </a:r>
            <a:r>
              <a:rPr dirty="0" err="1"/>
              <a:t>instituição</a:t>
            </a:r>
            <a:r>
              <a:rPr dirty="0"/>
              <a:t> de </a:t>
            </a:r>
            <a:r>
              <a:rPr dirty="0" err="1"/>
              <a:t>ensino</a:t>
            </a:r>
            <a:r>
              <a:rPr dirty="0"/>
              <a:t>.</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000" b="1" dirty="0">
                <a:solidFill>
                  <a:srgbClr val="FFFFFF"/>
                </a:solidFill>
              </a:rPr>
              <a:t>1. </a:t>
            </a:r>
            <a:r>
              <a:rPr sz="2000" b="1" dirty="0" err="1">
                <a:solidFill>
                  <a:srgbClr val="FFFFFF"/>
                </a:solidFill>
              </a:rPr>
              <a:t>Adequação</a:t>
            </a:r>
            <a:r>
              <a:rPr sz="2000" b="1" dirty="0">
                <a:solidFill>
                  <a:srgbClr val="FFFFFF"/>
                </a:solidFill>
              </a:rPr>
              <a:t> do </a:t>
            </a:r>
            <a:r>
              <a:rPr sz="2000" b="1" dirty="0" err="1">
                <a:solidFill>
                  <a:srgbClr val="FFFFFF"/>
                </a:solidFill>
              </a:rPr>
              <a:t>nível</a:t>
            </a:r>
            <a:r>
              <a:rPr sz="2000" b="1" dirty="0">
                <a:solidFill>
                  <a:srgbClr val="FFFFFF"/>
                </a:solidFill>
              </a:rPr>
              <a:t> (IAN) — Qual é o </a:t>
            </a:r>
            <a:r>
              <a:rPr sz="2000" b="1" dirty="0" err="1">
                <a:solidFill>
                  <a:srgbClr val="FFFFFF"/>
                </a:solidFill>
              </a:rPr>
              <a:t>perfil</a:t>
            </a:r>
            <a:r>
              <a:rPr sz="2000" b="1" dirty="0">
                <a:solidFill>
                  <a:srgbClr val="FFFFFF"/>
                </a:solidFill>
              </a:rPr>
              <a:t> </a:t>
            </a:r>
            <a:r>
              <a:rPr sz="2000" b="1" dirty="0" err="1">
                <a:solidFill>
                  <a:srgbClr val="FFFFFF"/>
                </a:solidFill>
              </a:rPr>
              <a:t>geral</a:t>
            </a:r>
            <a:r>
              <a:rPr sz="2000" b="1" dirty="0">
                <a:solidFill>
                  <a:srgbClr val="FFFFFF"/>
                </a:solidFill>
              </a:rPr>
              <a:t> de </a:t>
            </a:r>
            <a:r>
              <a:rPr sz="2000" b="1" dirty="0" err="1">
                <a:solidFill>
                  <a:srgbClr val="FFFFFF"/>
                </a:solidFill>
              </a:rPr>
              <a:t>defasagem</a:t>
            </a:r>
            <a:r>
              <a:rPr sz="2000" b="1" dirty="0">
                <a:solidFill>
                  <a:srgbClr val="FFFFFF"/>
                </a:solidFill>
              </a:rPr>
              <a:t> dos </a:t>
            </a:r>
            <a:r>
              <a:rPr sz="2000" b="1" dirty="0" err="1">
                <a:solidFill>
                  <a:srgbClr val="FFFFFF"/>
                </a:solidFill>
              </a:rPr>
              <a:t>alunos</a:t>
            </a:r>
            <a:r>
              <a:rPr sz="2000" b="1" dirty="0">
                <a:solidFill>
                  <a:srgbClr val="FFFFFF"/>
                </a:solidFill>
              </a:rPr>
              <a:t> (IAN) e </a:t>
            </a:r>
            <a:r>
              <a:rPr sz="2000" b="1" dirty="0" err="1">
                <a:solidFill>
                  <a:srgbClr val="FFFFFF"/>
                </a:solidFill>
              </a:rPr>
              <a:t>como</a:t>
            </a:r>
            <a:r>
              <a:rPr sz="2000" b="1" dirty="0">
                <a:solidFill>
                  <a:srgbClr val="FFFFFF"/>
                </a:solidFill>
              </a:rPr>
              <a:t> </a:t>
            </a:r>
            <a:r>
              <a:rPr sz="2000" b="1" dirty="0" err="1">
                <a:solidFill>
                  <a:srgbClr val="FFFFFF"/>
                </a:solidFill>
              </a:rPr>
              <a:t>ele</a:t>
            </a:r>
            <a:r>
              <a:rPr sz="2000" b="1" dirty="0">
                <a:solidFill>
                  <a:srgbClr val="FFFFFF"/>
                </a:solidFill>
              </a:rPr>
              <a:t> </a:t>
            </a:r>
            <a:r>
              <a:rPr sz="2000" b="1" dirty="0" err="1">
                <a:solidFill>
                  <a:srgbClr val="FFFFFF"/>
                </a:solidFill>
              </a:rPr>
              <a:t>evolui</a:t>
            </a:r>
            <a:r>
              <a:rPr sz="2000" b="1" dirty="0">
                <a:solidFill>
                  <a:srgbClr val="FFFFFF"/>
                </a:solidFill>
              </a:rPr>
              <a:t> </a:t>
            </a:r>
            <a:r>
              <a:rPr sz="2000" b="1" dirty="0" err="1">
                <a:solidFill>
                  <a:srgbClr val="FFFFFF"/>
                </a:solidFill>
              </a:rPr>
              <a:t>ao</a:t>
            </a:r>
            <a:r>
              <a:rPr sz="2000" b="1" dirty="0">
                <a:solidFill>
                  <a:srgbClr val="FFFFFF"/>
                </a:solidFill>
              </a:rPr>
              <a:t> </a:t>
            </a:r>
            <a:r>
              <a:rPr sz="2000" b="1" dirty="0" err="1">
                <a:solidFill>
                  <a:srgbClr val="FFFFFF"/>
                </a:solidFill>
              </a:rPr>
              <a:t>longo</a:t>
            </a:r>
            <a:r>
              <a:rPr sz="2000" b="1" dirty="0">
                <a:solidFill>
                  <a:srgbClr val="FFFFFF"/>
                </a:solidFill>
              </a:rPr>
              <a:t> do </a:t>
            </a:r>
            <a:r>
              <a:rPr sz="2000" b="1" dirty="0" err="1">
                <a:solidFill>
                  <a:srgbClr val="FFFFFF"/>
                </a:solidFill>
              </a:rPr>
              <a:t>ano</a:t>
            </a:r>
            <a:r>
              <a:rPr sz="2000" b="1" dirty="0">
                <a:solidFill>
                  <a:srgbClr val="FFFFFF"/>
                </a:solidFill>
              </a:rPr>
              <a:t>? (Ex.: </a:t>
            </a:r>
            <a:r>
              <a:rPr sz="2000" b="1" dirty="0" err="1">
                <a:solidFill>
                  <a:srgbClr val="FFFFFF"/>
                </a:solidFill>
              </a:rPr>
              <a:t>quantos</a:t>
            </a:r>
            <a:r>
              <a:rPr sz="2000" b="1" dirty="0">
                <a:solidFill>
                  <a:srgbClr val="FFFFFF"/>
                </a:solidFill>
              </a:rPr>
              <a:t> </a:t>
            </a:r>
            <a:r>
              <a:rPr sz="2000" b="1" dirty="0" err="1">
                <a:solidFill>
                  <a:srgbClr val="FFFFFF"/>
                </a:solidFill>
              </a:rPr>
              <a:t>alunos</a:t>
            </a:r>
            <a:r>
              <a:rPr sz="2000" b="1" dirty="0">
                <a:solidFill>
                  <a:srgbClr val="FFFFFF"/>
                </a:solidFill>
              </a:rPr>
              <a:t> </a:t>
            </a:r>
            <a:r>
              <a:rPr sz="2000" b="1" dirty="0" err="1">
                <a:solidFill>
                  <a:srgbClr val="FFFFFF"/>
                </a:solidFill>
              </a:rPr>
              <a:t>estão</a:t>
            </a:r>
            <a:r>
              <a:rPr sz="2000" b="1" dirty="0">
                <a:solidFill>
                  <a:srgbClr val="FFFFFF"/>
                </a:solidFill>
              </a:rPr>
              <a:t> </a:t>
            </a:r>
            <a:r>
              <a:rPr sz="2000" b="1" dirty="0" err="1">
                <a:solidFill>
                  <a:srgbClr val="FFFFFF"/>
                </a:solidFill>
              </a:rPr>
              <a:t>moderadamente</a:t>
            </a:r>
            <a:r>
              <a:rPr sz="2000" b="1" dirty="0">
                <a:solidFill>
                  <a:srgbClr val="FFFFFF"/>
                </a:solidFill>
              </a:rPr>
              <a:t> </a:t>
            </a:r>
            <a:r>
              <a:rPr sz="2000" b="1" dirty="0" err="1">
                <a:solidFill>
                  <a:srgbClr val="FFFFFF"/>
                </a:solidFill>
              </a:rPr>
              <a:t>ou</a:t>
            </a:r>
            <a:r>
              <a:rPr sz="2000" b="1" dirty="0">
                <a:solidFill>
                  <a:srgbClr val="FFFFFF"/>
                </a:solidFill>
              </a:rPr>
              <a:t> </a:t>
            </a:r>
            <a:r>
              <a:rPr sz="2000" b="1" dirty="0" err="1">
                <a:solidFill>
                  <a:srgbClr val="FFFFFF"/>
                </a:solidFill>
              </a:rPr>
              <a:t>severamente</a:t>
            </a:r>
            <a:r>
              <a:rPr sz="2000" b="1" dirty="0">
                <a:solidFill>
                  <a:srgbClr val="FFFFFF"/>
                </a:solidFill>
              </a:rPr>
              <a:t> </a:t>
            </a:r>
            <a:r>
              <a:rPr sz="2000" b="1" dirty="0" err="1">
                <a:solidFill>
                  <a:srgbClr val="FFFFFF"/>
                </a:solidFill>
              </a:rPr>
              <a:t>defasados</a:t>
            </a:r>
            <a:r>
              <a:rPr sz="2000" b="1" dirty="0">
                <a:solidFill>
                  <a:srgbClr val="FFFFFF"/>
                </a:solidFill>
              </a:rPr>
              <a:t>?)</a:t>
            </a: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4</a:t>
            </a:r>
          </a:p>
        </p:txBody>
      </p:sp>
      <p:pic>
        <p:nvPicPr>
          <p:cNvPr id="12" name="Imagem 11">
            <a:extLst>
              <a:ext uri="{FF2B5EF4-FFF2-40B4-BE49-F238E27FC236}">
                <a16:creationId xmlns:a16="http://schemas.microsoft.com/office/drawing/2014/main" id="{99670D2F-0B44-1630-2ECF-10802C016683}"/>
              </a:ext>
            </a:extLst>
          </p:cNvPr>
          <p:cNvPicPr>
            <a:picLocks noChangeAspect="1"/>
          </p:cNvPicPr>
          <p:nvPr/>
        </p:nvPicPr>
        <p:blipFill>
          <a:blip r:embed="rId2"/>
          <a:stretch>
            <a:fillRect/>
          </a:stretch>
        </p:blipFill>
        <p:spPr>
          <a:xfrm>
            <a:off x="807720" y="1532615"/>
            <a:ext cx="9489723" cy="45700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499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2. </a:t>
            </a:r>
            <a:r>
              <a:rPr lang="pt-BR" sz="2000" dirty="0"/>
              <a:t>Desempenho acadêmico (IDA) — O desempenho acadêmico médio (IDA) está melhorando, estagnado ou caindo ao longo das fases e anos?</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5</a:t>
            </a:r>
          </a:p>
        </p:txBody>
      </p:sp>
      <p:pic>
        <p:nvPicPr>
          <p:cNvPr id="10" name="Imagem 9">
            <a:extLst>
              <a:ext uri="{FF2B5EF4-FFF2-40B4-BE49-F238E27FC236}">
                <a16:creationId xmlns:a16="http://schemas.microsoft.com/office/drawing/2014/main" id="{3521234E-89F3-0EAF-3A1E-D0CFA98969DB}"/>
              </a:ext>
            </a:extLst>
          </p:cNvPr>
          <p:cNvPicPr>
            <a:picLocks noChangeAspect="1"/>
          </p:cNvPicPr>
          <p:nvPr/>
        </p:nvPicPr>
        <p:blipFill>
          <a:blip r:embed="rId2"/>
          <a:stretch>
            <a:fillRect/>
          </a:stretch>
        </p:blipFill>
        <p:spPr>
          <a:xfrm>
            <a:off x="323044" y="1159375"/>
            <a:ext cx="11545911" cy="55157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3. </a:t>
            </a:r>
            <a:r>
              <a:rPr lang="pt-BR" sz="2000" dirty="0"/>
              <a:t>Engajamento nas atividades (IEG) — O grau de engajamento dos alunos (IEG) tem relação direta com seus indicadores de desempenho (IDA) e do ponto de virada (IPV)?</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6</a:t>
            </a:r>
          </a:p>
        </p:txBody>
      </p:sp>
      <p:pic>
        <p:nvPicPr>
          <p:cNvPr id="10" name="Imagem 9">
            <a:extLst>
              <a:ext uri="{FF2B5EF4-FFF2-40B4-BE49-F238E27FC236}">
                <a16:creationId xmlns:a16="http://schemas.microsoft.com/office/drawing/2014/main" id="{8B923269-A5C4-64B1-B215-5388254C9778}"/>
              </a:ext>
            </a:extLst>
          </p:cNvPr>
          <p:cNvPicPr>
            <a:picLocks noChangeAspect="1"/>
          </p:cNvPicPr>
          <p:nvPr/>
        </p:nvPicPr>
        <p:blipFill>
          <a:blip r:embed="rId2"/>
          <a:stretch>
            <a:fillRect/>
          </a:stretch>
        </p:blipFill>
        <p:spPr>
          <a:xfrm>
            <a:off x="223269" y="1204275"/>
            <a:ext cx="5872578" cy="3500729"/>
          </a:xfrm>
          <a:prstGeom prst="rect">
            <a:avLst/>
          </a:prstGeom>
        </p:spPr>
      </p:pic>
      <p:pic>
        <p:nvPicPr>
          <p:cNvPr id="12" name="Imagem 11">
            <a:extLst>
              <a:ext uri="{FF2B5EF4-FFF2-40B4-BE49-F238E27FC236}">
                <a16:creationId xmlns:a16="http://schemas.microsoft.com/office/drawing/2014/main" id="{49382C4D-D54C-F857-390B-A9B5067CC6BB}"/>
              </a:ext>
            </a:extLst>
          </p:cNvPr>
          <p:cNvPicPr>
            <a:picLocks noChangeAspect="1"/>
          </p:cNvPicPr>
          <p:nvPr/>
        </p:nvPicPr>
        <p:blipFill>
          <a:blip r:embed="rId3"/>
          <a:stretch>
            <a:fillRect/>
          </a:stretch>
        </p:blipFill>
        <p:spPr>
          <a:xfrm>
            <a:off x="6095847" y="1250436"/>
            <a:ext cx="5985493" cy="3408406"/>
          </a:xfrm>
          <a:prstGeom prst="rect">
            <a:avLst/>
          </a:prstGeom>
        </p:spPr>
      </p:pic>
      <p:pic>
        <p:nvPicPr>
          <p:cNvPr id="14" name="Imagem 13">
            <a:extLst>
              <a:ext uri="{FF2B5EF4-FFF2-40B4-BE49-F238E27FC236}">
                <a16:creationId xmlns:a16="http://schemas.microsoft.com/office/drawing/2014/main" id="{000CE1F1-A1FC-BA0E-FC78-3DC074DE52BD}"/>
              </a:ext>
            </a:extLst>
          </p:cNvPr>
          <p:cNvPicPr>
            <a:picLocks noChangeAspect="1"/>
          </p:cNvPicPr>
          <p:nvPr/>
        </p:nvPicPr>
        <p:blipFill>
          <a:blip r:embed="rId4"/>
          <a:stretch>
            <a:fillRect/>
          </a:stretch>
        </p:blipFill>
        <p:spPr>
          <a:xfrm>
            <a:off x="2044825" y="5132038"/>
            <a:ext cx="8678486" cy="13051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4. </a:t>
            </a:r>
            <a:r>
              <a:rPr lang="pt-BR" sz="2000" dirty="0"/>
              <a:t>Autoavaliação (IAA) — As percepções dos alunos sobre si mesmos (IAA) são coerentes com seu desempenho real (IDA) e engajamento (IEG)?</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7</a:t>
            </a:r>
          </a:p>
        </p:txBody>
      </p:sp>
      <p:pic>
        <p:nvPicPr>
          <p:cNvPr id="10" name="Imagem 9">
            <a:extLst>
              <a:ext uri="{FF2B5EF4-FFF2-40B4-BE49-F238E27FC236}">
                <a16:creationId xmlns:a16="http://schemas.microsoft.com/office/drawing/2014/main" id="{79DF7431-7CFE-AB58-E9CB-4844497E52FB}"/>
              </a:ext>
            </a:extLst>
          </p:cNvPr>
          <p:cNvPicPr>
            <a:picLocks noChangeAspect="1"/>
          </p:cNvPicPr>
          <p:nvPr/>
        </p:nvPicPr>
        <p:blipFill>
          <a:blip r:embed="rId2"/>
          <a:stretch>
            <a:fillRect/>
          </a:stretch>
        </p:blipFill>
        <p:spPr>
          <a:xfrm>
            <a:off x="223970" y="1222155"/>
            <a:ext cx="5667166" cy="3310180"/>
          </a:xfrm>
          <a:prstGeom prst="rect">
            <a:avLst/>
          </a:prstGeom>
        </p:spPr>
      </p:pic>
      <p:pic>
        <p:nvPicPr>
          <p:cNvPr id="12" name="Imagem 11">
            <a:extLst>
              <a:ext uri="{FF2B5EF4-FFF2-40B4-BE49-F238E27FC236}">
                <a16:creationId xmlns:a16="http://schemas.microsoft.com/office/drawing/2014/main" id="{336860F8-5B35-596E-2D58-89C56B0D7926}"/>
              </a:ext>
            </a:extLst>
          </p:cNvPr>
          <p:cNvPicPr>
            <a:picLocks noChangeAspect="1"/>
          </p:cNvPicPr>
          <p:nvPr/>
        </p:nvPicPr>
        <p:blipFill>
          <a:blip r:embed="rId3"/>
          <a:stretch>
            <a:fillRect/>
          </a:stretch>
        </p:blipFill>
        <p:spPr>
          <a:xfrm>
            <a:off x="5891136" y="1222155"/>
            <a:ext cx="5721744" cy="3334295"/>
          </a:xfrm>
          <a:prstGeom prst="rect">
            <a:avLst/>
          </a:prstGeom>
        </p:spPr>
      </p:pic>
      <p:pic>
        <p:nvPicPr>
          <p:cNvPr id="14" name="Imagem 13">
            <a:extLst>
              <a:ext uri="{FF2B5EF4-FFF2-40B4-BE49-F238E27FC236}">
                <a16:creationId xmlns:a16="http://schemas.microsoft.com/office/drawing/2014/main" id="{1638642B-4BAC-FCC7-CE63-B81150885BD8}"/>
              </a:ext>
            </a:extLst>
          </p:cNvPr>
          <p:cNvPicPr>
            <a:picLocks noChangeAspect="1"/>
          </p:cNvPicPr>
          <p:nvPr/>
        </p:nvPicPr>
        <p:blipFill>
          <a:blip r:embed="rId4"/>
          <a:stretch>
            <a:fillRect/>
          </a:stretch>
        </p:blipFill>
        <p:spPr>
          <a:xfrm>
            <a:off x="1794709" y="5001365"/>
            <a:ext cx="8602275" cy="13051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5. </a:t>
            </a:r>
            <a:r>
              <a:rPr lang="pt-BR" sz="2000" dirty="0"/>
              <a:t>Aspectos psicossociais (IPS) — Há padrões psicossociais (IPS) que antecedem quedas de desempenho acadêmico ou de engajamento?</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8</a:t>
            </a:r>
          </a:p>
        </p:txBody>
      </p:sp>
      <p:pic>
        <p:nvPicPr>
          <p:cNvPr id="10" name="Imagem 9">
            <a:extLst>
              <a:ext uri="{FF2B5EF4-FFF2-40B4-BE49-F238E27FC236}">
                <a16:creationId xmlns:a16="http://schemas.microsoft.com/office/drawing/2014/main" id="{946B2B3F-9CEC-B3E3-284F-61B2A4D819A7}"/>
              </a:ext>
            </a:extLst>
          </p:cNvPr>
          <p:cNvPicPr>
            <a:picLocks noChangeAspect="1"/>
          </p:cNvPicPr>
          <p:nvPr/>
        </p:nvPicPr>
        <p:blipFill>
          <a:blip r:embed="rId2"/>
          <a:stretch>
            <a:fillRect/>
          </a:stretch>
        </p:blipFill>
        <p:spPr>
          <a:xfrm>
            <a:off x="444065" y="1538616"/>
            <a:ext cx="5511528" cy="3167030"/>
          </a:xfrm>
          <a:prstGeom prst="rect">
            <a:avLst/>
          </a:prstGeom>
        </p:spPr>
      </p:pic>
      <p:pic>
        <p:nvPicPr>
          <p:cNvPr id="12" name="Imagem 11">
            <a:extLst>
              <a:ext uri="{FF2B5EF4-FFF2-40B4-BE49-F238E27FC236}">
                <a16:creationId xmlns:a16="http://schemas.microsoft.com/office/drawing/2014/main" id="{0EBB2DA6-D196-42A2-2107-FDF0BEB54635}"/>
              </a:ext>
            </a:extLst>
          </p:cNvPr>
          <p:cNvPicPr>
            <a:picLocks noChangeAspect="1"/>
          </p:cNvPicPr>
          <p:nvPr/>
        </p:nvPicPr>
        <p:blipFill>
          <a:blip r:embed="rId3"/>
          <a:stretch>
            <a:fillRect/>
          </a:stretch>
        </p:blipFill>
        <p:spPr>
          <a:xfrm>
            <a:off x="6236408" y="1520203"/>
            <a:ext cx="5511529" cy="3203856"/>
          </a:xfrm>
          <a:prstGeom prst="rect">
            <a:avLst/>
          </a:prstGeom>
        </p:spPr>
      </p:pic>
      <p:pic>
        <p:nvPicPr>
          <p:cNvPr id="14" name="Imagem 13">
            <a:extLst>
              <a:ext uri="{FF2B5EF4-FFF2-40B4-BE49-F238E27FC236}">
                <a16:creationId xmlns:a16="http://schemas.microsoft.com/office/drawing/2014/main" id="{B02DAAB0-5752-6285-83AC-7395969E38E6}"/>
              </a:ext>
            </a:extLst>
          </p:cNvPr>
          <p:cNvPicPr>
            <a:picLocks noChangeAspect="1"/>
          </p:cNvPicPr>
          <p:nvPr/>
        </p:nvPicPr>
        <p:blipFill>
          <a:blip r:embed="rId4"/>
          <a:stretch>
            <a:fillRect/>
          </a:stretch>
        </p:blipFill>
        <p:spPr>
          <a:xfrm>
            <a:off x="1847257" y="5189045"/>
            <a:ext cx="8497486" cy="1257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7. </a:t>
            </a:r>
            <a:r>
              <a:rPr lang="pt-BR" sz="2000" dirty="0"/>
              <a:t>Ponto de virada (IPV) — Quais comportamentos — acadêmicos, emocionais ou de engajamento — mais influenciam o IPV ao longo do tempo?</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10</a:t>
            </a:r>
          </a:p>
        </p:txBody>
      </p:sp>
      <p:pic>
        <p:nvPicPr>
          <p:cNvPr id="10" name="Imagem 9">
            <a:extLst>
              <a:ext uri="{FF2B5EF4-FFF2-40B4-BE49-F238E27FC236}">
                <a16:creationId xmlns:a16="http://schemas.microsoft.com/office/drawing/2014/main" id="{AE1E951F-D481-99DD-99C7-4C4E0F8A5F05}"/>
              </a:ext>
            </a:extLst>
          </p:cNvPr>
          <p:cNvPicPr>
            <a:picLocks noChangeAspect="1"/>
          </p:cNvPicPr>
          <p:nvPr/>
        </p:nvPicPr>
        <p:blipFill>
          <a:blip r:embed="rId2"/>
          <a:stretch>
            <a:fillRect/>
          </a:stretch>
        </p:blipFill>
        <p:spPr>
          <a:xfrm>
            <a:off x="8396292" y="4038154"/>
            <a:ext cx="3486637" cy="1190791"/>
          </a:xfrm>
          <a:prstGeom prst="rect">
            <a:avLst/>
          </a:prstGeom>
        </p:spPr>
      </p:pic>
      <p:pic>
        <p:nvPicPr>
          <p:cNvPr id="12" name="Imagem 11">
            <a:extLst>
              <a:ext uri="{FF2B5EF4-FFF2-40B4-BE49-F238E27FC236}">
                <a16:creationId xmlns:a16="http://schemas.microsoft.com/office/drawing/2014/main" id="{D75D1F7B-83F6-791E-2C7B-1359EEEA26E7}"/>
              </a:ext>
            </a:extLst>
          </p:cNvPr>
          <p:cNvPicPr>
            <a:picLocks noChangeAspect="1"/>
          </p:cNvPicPr>
          <p:nvPr/>
        </p:nvPicPr>
        <p:blipFill>
          <a:blip r:embed="rId3"/>
          <a:stretch>
            <a:fillRect/>
          </a:stretch>
        </p:blipFill>
        <p:spPr>
          <a:xfrm>
            <a:off x="140445" y="896662"/>
            <a:ext cx="4098698" cy="2404979"/>
          </a:xfrm>
          <a:prstGeom prst="rect">
            <a:avLst/>
          </a:prstGeom>
        </p:spPr>
      </p:pic>
      <p:pic>
        <p:nvPicPr>
          <p:cNvPr id="14" name="Imagem 13">
            <a:extLst>
              <a:ext uri="{FF2B5EF4-FFF2-40B4-BE49-F238E27FC236}">
                <a16:creationId xmlns:a16="http://schemas.microsoft.com/office/drawing/2014/main" id="{1E6A71FC-8065-6ACD-52AC-1707E215F68D}"/>
              </a:ext>
            </a:extLst>
          </p:cNvPr>
          <p:cNvPicPr>
            <a:picLocks noChangeAspect="1"/>
          </p:cNvPicPr>
          <p:nvPr/>
        </p:nvPicPr>
        <p:blipFill>
          <a:blip r:embed="rId4"/>
          <a:stretch>
            <a:fillRect/>
          </a:stretch>
        </p:blipFill>
        <p:spPr>
          <a:xfrm>
            <a:off x="4147124" y="897381"/>
            <a:ext cx="3897445" cy="2320616"/>
          </a:xfrm>
          <a:prstGeom prst="rect">
            <a:avLst/>
          </a:prstGeom>
        </p:spPr>
      </p:pic>
      <p:pic>
        <p:nvPicPr>
          <p:cNvPr id="16" name="Imagem 15">
            <a:extLst>
              <a:ext uri="{FF2B5EF4-FFF2-40B4-BE49-F238E27FC236}">
                <a16:creationId xmlns:a16="http://schemas.microsoft.com/office/drawing/2014/main" id="{6AA73A0D-158B-6FD2-0BB0-A1975083EF69}"/>
              </a:ext>
            </a:extLst>
          </p:cNvPr>
          <p:cNvPicPr>
            <a:picLocks noChangeAspect="1"/>
          </p:cNvPicPr>
          <p:nvPr/>
        </p:nvPicPr>
        <p:blipFill>
          <a:blip r:embed="rId5"/>
          <a:stretch>
            <a:fillRect/>
          </a:stretch>
        </p:blipFill>
        <p:spPr>
          <a:xfrm>
            <a:off x="8044569" y="873755"/>
            <a:ext cx="3838360" cy="2311851"/>
          </a:xfrm>
          <a:prstGeom prst="rect">
            <a:avLst/>
          </a:prstGeom>
        </p:spPr>
      </p:pic>
      <p:pic>
        <p:nvPicPr>
          <p:cNvPr id="18" name="Imagem 17">
            <a:extLst>
              <a:ext uri="{FF2B5EF4-FFF2-40B4-BE49-F238E27FC236}">
                <a16:creationId xmlns:a16="http://schemas.microsoft.com/office/drawing/2014/main" id="{FD2F241F-C237-74A6-6CFC-6AA7473233F3}"/>
              </a:ext>
            </a:extLst>
          </p:cNvPr>
          <p:cNvPicPr>
            <a:picLocks noChangeAspect="1"/>
          </p:cNvPicPr>
          <p:nvPr/>
        </p:nvPicPr>
        <p:blipFill>
          <a:blip r:embed="rId6"/>
          <a:stretch>
            <a:fillRect/>
          </a:stretch>
        </p:blipFill>
        <p:spPr>
          <a:xfrm>
            <a:off x="341698" y="3429001"/>
            <a:ext cx="3897445" cy="2341412"/>
          </a:xfrm>
          <a:prstGeom prst="rect">
            <a:avLst/>
          </a:prstGeom>
        </p:spPr>
      </p:pic>
      <p:pic>
        <p:nvPicPr>
          <p:cNvPr id="20" name="Imagem 19">
            <a:extLst>
              <a:ext uri="{FF2B5EF4-FFF2-40B4-BE49-F238E27FC236}">
                <a16:creationId xmlns:a16="http://schemas.microsoft.com/office/drawing/2014/main" id="{CBE88D03-1FA6-5FAA-E66B-0FBB27BE45EB}"/>
              </a:ext>
            </a:extLst>
          </p:cNvPr>
          <p:cNvPicPr>
            <a:picLocks noChangeAspect="1"/>
          </p:cNvPicPr>
          <p:nvPr/>
        </p:nvPicPr>
        <p:blipFill>
          <a:blip r:embed="rId7"/>
          <a:stretch>
            <a:fillRect/>
          </a:stretch>
        </p:blipFill>
        <p:spPr>
          <a:xfrm>
            <a:off x="4147124" y="3382661"/>
            <a:ext cx="3897445" cy="23965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2000" b="1" dirty="0">
              <a:solidFill>
                <a:srgbClr val="FFFFFF"/>
              </a:solidFill>
            </a:endParaRPr>
          </a:p>
          <a:p>
            <a:r>
              <a:rPr sz="2000" b="1" dirty="0">
                <a:solidFill>
                  <a:srgbClr val="FFFFFF"/>
                </a:solidFill>
              </a:rPr>
              <a:t>8. </a:t>
            </a:r>
            <a:r>
              <a:rPr lang="pt-BR" sz="2000" dirty="0"/>
              <a:t>Multidimensionalidade dos indicadores — Quais combinações de indicadores (IDA + IEG + IPS + IPP) elevam mais a nota global do aluno (INDE)?</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11</a:t>
            </a:r>
          </a:p>
        </p:txBody>
      </p:sp>
      <p:pic>
        <p:nvPicPr>
          <p:cNvPr id="10" name="Imagem 9">
            <a:extLst>
              <a:ext uri="{FF2B5EF4-FFF2-40B4-BE49-F238E27FC236}">
                <a16:creationId xmlns:a16="http://schemas.microsoft.com/office/drawing/2014/main" id="{AB7A7363-9ACD-236D-9D33-E7D4A0647B47}"/>
              </a:ext>
            </a:extLst>
          </p:cNvPr>
          <p:cNvPicPr>
            <a:picLocks noChangeAspect="1"/>
          </p:cNvPicPr>
          <p:nvPr/>
        </p:nvPicPr>
        <p:blipFill>
          <a:blip r:embed="rId2"/>
          <a:stretch>
            <a:fillRect/>
          </a:stretch>
        </p:blipFill>
        <p:spPr>
          <a:xfrm>
            <a:off x="3239637" y="4346226"/>
            <a:ext cx="6952613" cy="1517237"/>
          </a:xfrm>
          <a:prstGeom prst="rect">
            <a:avLst/>
          </a:prstGeom>
        </p:spPr>
      </p:pic>
      <p:pic>
        <p:nvPicPr>
          <p:cNvPr id="12" name="Imagem 11">
            <a:extLst>
              <a:ext uri="{FF2B5EF4-FFF2-40B4-BE49-F238E27FC236}">
                <a16:creationId xmlns:a16="http://schemas.microsoft.com/office/drawing/2014/main" id="{6D448939-71B6-9CA2-7618-F0F272251ED8}"/>
              </a:ext>
            </a:extLst>
          </p:cNvPr>
          <p:cNvPicPr>
            <a:picLocks noChangeAspect="1"/>
          </p:cNvPicPr>
          <p:nvPr/>
        </p:nvPicPr>
        <p:blipFill>
          <a:blip r:embed="rId3"/>
          <a:stretch>
            <a:fillRect/>
          </a:stretch>
        </p:blipFill>
        <p:spPr>
          <a:xfrm>
            <a:off x="3104726" y="986176"/>
            <a:ext cx="6526726" cy="24428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777240"/>
          </a:xfrm>
          <a:prstGeom prst="rect">
            <a:avLst/>
          </a:prstGeom>
          <a:solidFill>
            <a:srgbClr val="1F3750"/>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pt-BR" sz="1600" b="1" dirty="0">
              <a:solidFill>
                <a:srgbClr val="FFFFFF"/>
              </a:solidFill>
            </a:endParaRPr>
          </a:p>
          <a:p>
            <a:r>
              <a:rPr sz="1600" b="1" dirty="0">
                <a:solidFill>
                  <a:srgbClr val="FFFFFF"/>
                </a:solidFill>
              </a:rPr>
              <a:t>9. </a:t>
            </a:r>
            <a:r>
              <a:rPr lang="pt-BR" sz="1600" dirty="0"/>
              <a:t>Previsão de risco com Machine Learning — Quais padrões nos indicadores permitem identificar alunos em risco antes de queda no desempenho ou aumento da defasagem? Construa um modelo preditivo que mostre uma probabilidade do aluno ou aluna entrar em risco de defasagem.</a:t>
            </a:r>
          </a:p>
          <a:p>
            <a:pPr algn="l"/>
            <a:endParaRPr sz="2500" b="1" dirty="0">
              <a:solidFill>
                <a:srgbClr val="FFFFFF"/>
              </a:solidFill>
            </a:endParaRPr>
          </a:p>
        </p:txBody>
      </p:sp>
      <p:sp>
        <p:nvSpPr>
          <p:cNvPr id="8" name="TextBox 7"/>
          <p:cNvSpPr txBox="1"/>
          <p:nvPr/>
        </p:nvSpPr>
        <p:spPr>
          <a:xfrm>
            <a:off x="10698480" y="6446520"/>
            <a:ext cx="914400" cy="228600"/>
          </a:xfrm>
          <a:prstGeom prst="rect">
            <a:avLst/>
          </a:prstGeom>
          <a:noFill/>
        </p:spPr>
        <p:txBody>
          <a:bodyPr wrap="none">
            <a:spAutoFit/>
          </a:bodyPr>
          <a:lstStyle/>
          <a:p>
            <a:pPr algn="r">
              <a:defRPr sz="900">
                <a:solidFill>
                  <a:srgbClr val="787878"/>
                </a:solidFill>
              </a:defRPr>
            </a:pPr>
            <a:r>
              <a:t>12</a:t>
            </a:r>
          </a:p>
        </p:txBody>
      </p:sp>
      <p:sp>
        <p:nvSpPr>
          <p:cNvPr id="9" name="CaixaDeTexto 8">
            <a:extLst>
              <a:ext uri="{FF2B5EF4-FFF2-40B4-BE49-F238E27FC236}">
                <a16:creationId xmlns:a16="http://schemas.microsoft.com/office/drawing/2014/main" id="{2A76F938-DEB5-9533-0A74-E06E5C2CB086}"/>
              </a:ext>
            </a:extLst>
          </p:cNvPr>
          <p:cNvSpPr txBox="1"/>
          <p:nvPr/>
        </p:nvSpPr>
        <p:spPr>
          <a:xfrm>
            <a:off x="284814" y="1763082"/>
            <a:ext cx="4870308" cy="369332"/>
          </a:xfrm>
          <a:prstGeom prst="rect">
            <a:avLst/>
          </a:prstGeom>
          <a:noFill/>
        </p:spPr>
        <p:txBody>
          <a:bodyPr wrap="none" rtlCol="0">
            <a:spAutoFit/>
          </a:bodyPr>
          <a:lstStyle/>
          <a:p>
            <a:r>
              <a:rPr lang="pt-BR" dirty="0"/>
              <a:t>https://github.com/LuFeMa33/PosTech_Datathon</a:t>
            </a:r>
          </a:p>
        </p:txBody>
      </p:sp>
      <p:sp>
        <p:nvSpPr>
          <p:cNvPr id="10" name="CaixaDeTexto 9">
            <a:extLst>
              <a:ext uri="{FF2B5EF4-FFF2-40B4-BE49-F238E27FC236}">
                <a16:creationId xmlns:a16="http://schemas.microsoft.com/office/drawing/2014/main" id="{1C38980A-902A-F45A-D597-402B27B1CD82}"/>
              </a:ext>
            </a:extLst>
          </p:cNvPr>
          <p:cNvSpPr txBox="1"/>
          <p:nvPr/>
        </p:nvSpPr>
        <p:spPr>
          <a:xfrm>
            <a:off x="284814" y="3149210"/>
            <a:ext cx="7483011" cy="369332"/>
          </a:xfrm>
          <a:prstGeom prst="rect">
            <a:avLst/>
          </a:prstGeom>
          <a:noFill/>
        </p:spPr>
        <p:txBody>
          <a:bodyPr wrap="none" rtlCol="0">
            <a:spAutoFit/>
          </a:bodyPr>
          <a:lstStyle/>
          <a:p>
            <a:r>
              <a:rPr lang="pt-BR" dirty="0"/>
              <a:t>https://github.com/LuFeMa33/PosTech_Datathon/blob/main/Datathon.ipynb</a:t>
            </a:r>
          </a:p>
        </p:txBody>
      </p:sp>
      <p:sp>
        <p:nvSpPr>
          <p:cNvPr id="11" name="CaixaDeTexto 10">
            <a:extLst>
              <a:ext uri="{FF2B5EF4-FFF2-40B4-BE49-F238E27FC236}">
                <a16:creationId xmlns:a16="http://schemas.microsoft.com/office/drawing/2014/main" id="{23FD04D9-8FCC-6828-3A67-359E78A1EB7C}"/>
              </a:ext>
            </a:extLst>
          </p:cNvPr>
          <p:cNvSpPr txBox="1"/>
          <p:nvPr/>
        </p:nvSpPr>
        <p:spPr>
          <a:xfrm>
            <a:off x="284814" y="4564042"/>
            <a:ext cx="4034246" cy="369332"/>
          </a:xfrm>
          <a:prstGeom prst="rect">
            <a:avLst/>
          </a:prstGeom>
          <a:noFill/>
        </p:spPr>
        <p:txBody>
          <a:bodyPr wrap="none" rtlCol="0">
            <a:spAutoFit/>
          </a:bodyPr>
          <a:lstStyle/>
          <a:p>
            <a:r>
              <a:rPr lang="pt-BR" dirty="0"/>
              <a:t>https://defasagem-escolar.streamlit.app/</a:t>
            </a:r>
          </a:p>
        </p:txBody>
      </p:sp>
      <p:sp>
        <p:nvSpPr>
          <p:cNvPr id="13" name="CaixaDeTexto 12">
            <a:extLst>
              <a:ext uri="{FF2B5EF4-FFF2-40B4-BE49-F238E27FC236}">
                <a16:creationId xmlns:a16="http://schemas.microsoft.com/office/drawing/2014/main" id="{60DF0CF5-2B34-223B-E834-0E66BCD698E0}"/>
              </a:ext>
            </a:extLst>
          </p:cNvPr>
          <p:cNvSpPr txBox="1"/>
          <p:nvPr/>
        </p:nvSpPr>
        <p:spPr>
          <a:xfrm>
            <a:off x="284814" y="1546150"/>
            <a:ext cx="2994281" cy="369332"/>
          </a:xfrm>
          <a:prstGeom prst="rect">
            <a:avLst/>
          </a:prstGeom>
          <a:noFill/>
        </p:spPr>
        <p:txBody>
          <a:bodyPr wrap="none" rtlCol="0">
            <a:spAutoFit/>
          </a:bodyPr>
          <a:lstStyle/>
          <a:p>
            <a:r>
              <a:rPr lang="pt-BR" dirty="0"/>
              <a:t>Link do repositório do Github:</a:t>
            </a:r>
          </a:p>
        </p:txBody>
      </p:sp>
      <p:sp>
        <p:nvSpPr>
          <p:cNvPr id="15" name="CaixaDeTexto 14">
            <a:extLst>
              <a:ext uri="{FF2B5EF4-FFF2-40B4-BE49-F238E27FC236}">
                <a16:creationId xmlns:a16="http://schemas.microsoft.com/office/drawing/2014/main" id="{6B41EEA7-6A52-CFE3-A7CB-71B4E8820D21}"/>
              </a:ext>
            </a:extLst>
          </p:cNvPr>
          <p:cNvSpPr txBox="1"/>
          <p:nvPr/>
        </p:nvSpPr>
        <p:spPr>
          <a:xfrm>
            <a:off x="284814" y="2901324"/>
            <a:ext cx="3174972" cy="369332"/>
          </a:xfrm>
          <a:prstGeom prst="rect">
            <a:avLst/>
          </a:prstGeom>
          <a:noFill/>
        </p:spPr>
        <p:txBody>
          <a:bodyPr wrap="none" rtlCol="0">
            <a:spAutoFit/>
          </a:bodyPr>
          <a:lstStyle/>
          <a:p>
            <a:r>
              <a:rPr lang="pt-BR" dirty="0"/>
              <a:t>Notebook da análise dos dados:</a:t>
            </a:r>
          </a:p>
        </p:txBody>
      </p:sp>
      <p:sp>
        <p:nvSpPr>
          <p:cNvPr id="17" name="CaixaDeTexto 16">
            <a:extLst>
              <a:ext uri="{FF2B5EF4-FFF2-40B4-BE49-F238E27FC236}">
                <a16:creationId xmlns:a16="http://schemas.microsoft.com/office/drawing/2014/main" id="{795B8B10-0962-4F0C-E5D0-5940B8699009}"/>
              </a:ext>
            </a:extLst>
          </p:cNvPr>
          <p:cNvSpPr txBox="1"/>
          <p:nvPr/>
        </p:nvSpPr>
        <p:spPr>
          <a:xfrm>
            <a:off x="284814" y="4310485"/>
            <a:ext cx="4023794" cy="369332"/>
          </a:xfrm>
          <a:prstGeom prst="rect">
            <a:avLst/>
          </a:prstGeom>
          <a:noFill/>
        </p:spPr>
        <p:txBody>
          <a:bodyPr wrap="none" rtlCol="0">
            <a:spAutoFit/>
          </a:bodyPr>
          <a:lstStyle/>
          <a:p>
            <a:r>
              <a:rPr lang="pt-BR" dirty="0"/>
              <a:t>Link do </a:t>
            </a:r>
            <a:r>
              <a:rPr lang="pt-BR" dirty="0" err="1"/>
              <a:t>deploy</a:t>
            </a:r>
            <a:r>
              <a:rPr lang="pt-BR" dirty="0"/>
              <a:t> da aplicação no </a:t>
            </a:r>
            <a:r>
              <a:rPr lang="pt-BR" dirty="0" err="1"/>
              <a:t>Streamlit</a:t>
            </a:r>
            <a:r>
              <a:rPr lang="pt-B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TotalTime>
  <Words>469</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10</vt:i4>
      </vt:variant>
    </vt:vector>
  </HeadingPairs>
  <TitlesOfParts>
    <vt:vector size="13" baseType="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Thais Monteiro</cp:lastModifiedBy>
  <cp:revision>9</cp:revision>
  <dcterms:created xsi:type="dcterms:W3CDTF">2013-01-27T09:14:16Z</dcterms:created>
  <dcterms:modified xsi:type="dcterms:W3CDTF">2026-09-28T01:02:52Z</dcterms:modified>
  <cp:category/>
</cp:coreProperties>
</file>